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封面。生成日期 2026-08-08。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请画一张学术论文 teaser 示意图(SVG,viewBox="0 0 656 460",白底)。
主题:在线轨迹评估的两条路线对比,上下两条泳道,结构刻意对仗。
【全局风格(每张图都遵守)】
- 白色背景;学术论文风;衬线字体(Times New Roman / serif)
- 圆角矩形(圆角约 6px),描边 1–1.5px;箭头用细线 + 小三角头
- 色板:
  · 墨色文字/主线条 #0b0b0b;次要文字 #52514e;淡灰 #b8b6ae;网格线 #e1e0d9
  · 蓝系 =「冻结 / 免费表征 / 我们的路径」(统计图里 = CI 排除 0 且方向有利):描边 #1c5cab,浅底 #cde2fb,面板底 #f7fafd
  · 暖系 =「被训练的组件」:描边 #b2543a,浅底 #f8e3da
  · 中性框:底 #f0efec 或 #fbfaf8,描边 #898781
  · 红 = 统计图里「CI 排除 0 且方向不利 / 退化」#d03b3b;灰 =「CI 跨零(无结论)」#898781
【输出要求】
- 输出一个内联 SVG(白底),viewBox 见各图说明;文字用 &lt;text&gt;,不要外部字体 / 外部图片 / 脚本
- 把每个逻辑区块包进 &lt;g id="..."&gt; 并配注释,方便我后续逐条让你改
- 先输出整图,再等我逐条提修改意见
【泳道 (a) 上半部,标题 "(a)  Explicit imagination (WoTE)"(加粗,左上)】
主流程一行四个中性框,从左到右用箭头连接:
  [scene] → [planner (trained)](暖系框) → [K candidate trajectories] → [select &amp; execute](加粗)
从 [K candidate trajectories] 底部引一条弧线箭头向下到支路:
  [BEV world model (trained)](暖系框) → [imagined future states t+2s, t+4s + rewards](中性框)
支路末端再用弧线箭头汇入 [select &amp; execute] 底部。
泳道右下角一行暖色小字:"per-candidate rollouts at inference · ~18.7 ms reported"
【泳道 (b) 下半部,标题 "(b)  Amortized readout (ours)"(加粗)】
主流程与 (a) 完全对仗:
  [scene] → [frozen driving VLA (10B) — one prefill](蓝系框) → [K candidate trajectories] → [select &amp; execute](加粗)
从 VLA 框底部引弧线箭头到支路:
  [h = last prefill token (computed anyway)](蓝系框) → [value head · 1.7M params (the only trained part)](暖系框)
支路末端弧线箭头汇入 [select &amp; execute] 底部。
泳道右下角一行蓝色小字:"zero VLA training · zero rollouts · 1.2 ms measured"
【要点】两条泳道的框位置逐列对齐,读者一眼看出唯一差别是"喂给 select 的东西":上面是训练出来的世界模型推演,下面是免费的末位 token + 1.7M 小头。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请画一张学术论文方法示意图(SVG,viewBox="0 0 656 460",白底)。
主题:same-prefill 采集合约 + 哈希出处链。
【全局风格(每张图都遵守)】
- 白色背景;学术论文风;衬线字体(Times New Roman / serif)
- 圆角矩形(圆角约 6px),描边 1–1.5px;箭头用细线 + 小三角头
- 色板:
  · 墨色文字/主线条 #0b0b0b;次要文字 #52514e;淡灰 #b8b6ae;网格线 #e1e0d9
  · 蓝系 =「冻结 / 免费表征 / 我们的路径」(统计图里 = CI 排除 0 且方向有利):描边 #1c5cab,浅底 #cde2fb,面板底 #f7fafd
  · 暖系 =「被训练的组件」:描边 #b2543a,浅底 #f8e3da
  · 中性框:底 #f0efec 或 #fbfaf8,描边 #898781
  · 红 = 统计图里「CI 排除 0 且方向不利 / 退化」#d03b3b;灰 =「CI 跨零(无结论)」#898781
【输出要求】
- 输出一个内联 SVG(白底),viewBox 见各图说明;文字用 &lt;text&gt;,不要外部字体 / 外部图片 / 脚本
- 把每个逻辑区块包进 &lt;g id="..."&gt; 并配注释,方便我后续逐条让你改
- 先输出整图,再等我逐条提修改意见
【上半部:一次 predict() 调用(大圆角容器,底 #fbfaf8,边淡灰)】
- 容器左上角斜体小字:"one production predict( ) call — exactly-one-prefill asserted"
- 容器内顶部:一排 14 个小方块(底 #e7e5df)代表 token 序列,下方标 "prompt prefill · 3,086 tokens"
- token 条右侧箭头 → 中性框 [sample K=8 candidates]
- token 条下方箭头 ↓ → 大矩形 [H ∈ ℝ^(3086×4096) — final-layer hidden states (post final norm)](浅蓝底 #eef3fa)
- H 矩形的最底一行单独高亮:蓝底 #cde2fb、蓝边 #1c5cab 的细长条
- 高亮行右侧蓝色加粗标注 "h = H[−1]",下一行灰色小字 "bit-exact, sha-verified · 519/519 groups"
- 从 [sample K=8 candidates] 底部到 h 标注区画一条淡灰弧线箭头,旁边斜体小字 "same forward pass"
【下半部:出处链】
四个中性框横排,箭头依次连接:
  [capture hashes] → [training tables] → [locked predictions] → [analysis record]
每个框左上角一个蓝色小标 "sha"。
从 H 矩形左下角画弧线箭头指向第一个框。
底部一行斜体灰字:"provenance chain — every hop hash-verified before analysis"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请画一张学术论文架构图(SVG,viewBox="0 0 1380 520",白底,横向三段式)。
主题:冻结驾驶 VLA 的一次前向 → 两个产物(候选轨迹 + 末位 token h)→ 逐候选共享权重的 SafeWorld 选择头 → 分解输出与选择器。
【全局风格(每张图都遵守)】
- 白色背景;学术论文风;衬线字体(Times New Roman / serif)
- 圆角矩形(圆角约 6px),描边 1–1.5px;箭头用细线 + 小三角头
- 色板:
  · 墨色文字/主线条 #0b0b0b;次要文字 #52514e;淡灰 #b8b6ae;网格线 #e1e0d9
  · 蓝系 =「冻结 / 免费表征 / 我们的路径」(统计图里 = CI 排除 0 且方向有利):描边 #1c5cab,浅底 #cde2fb,面板底 #f7fafd
  · 暖系 =「被训练的组件」:描边 #b2543a,浅底 #f8e3da
  · 中性框:底 #f0efec 或 #fbfaf8,描边 #898781
  · 红 = 统计图里「CI 排除 0 且方向不利 / 退化」#d03b3b;灰 =「CI 跨零(无结论)」#898781
【输出要求】
- 输出一个内联 SVG(白底),viewBox 见各图说明;文字用 &lt;text&gt;,不要外部字体 / 外部图片 / 脚本
- 把每个逻辑区块包进 &lt;g id="..."&gt; 并配注释,方便我后续逐条让你改
- 先输出整图,再等我逐条提修改意见
【区域 1(左,约 x 0–330):冻结 VLA】
- 大蓝边容器(底 #f7fafd,边 #1c5cab),顶部蓝色加粗标题 "frozen driving VLA (10B)",下一行灰色斜体 "one forward pass — no finetuning"
- 容器内:一排 10 个小方块(底 #e7e5df)= token 条,下标 "prompt prefill · 3,086 tokens"
- token 条下方箭头 ↓ 指向矩阵图形:矩形(浅蓝底 #eef3fa)内画 8 条淡蓝横线表示行,中央标 "H ∈ ℝ^(3086×4096)" 与 "final-layer hidden states";矩阵最底一行高亮(底 #cde2fb 边 #1c5cab)
- 容器底部斜体小字 "captured once per decision group"
【区域 1 → 2 之间:一次前向的两个产物】
- 上路:从容器右上引箭头(旁标斜体 "sample")到白底框,框内画 5 条从同一起点扇形展开的轨迹曲线(起点一个小圆点),框上方标 "K=8 sampled candidates"
- 下路:从矩阵高亮行引蓝色箭头到蓝系框 [h = H[−1] ∈ ℝ^4096 / sha-verified, bit-exact](两行),框下方蓝色斜体小字 "computed anyway — free"
【区域 2(中,约 x 470–720):SafeWorld 头,堆叠卡片】
- 三张堆叠的圆角卡片(后两张向右下偏移、颜色更淡)表示 ×8 逐候选;最上卡片右上角灰色斜体 "×8"
- 卡片标题加粗 "SafeWorld head",副标斜体 "shared weights · run per candidate"
- 卡片内自上而下四个框,箭头竖直连接:
  [trajectory c_k (64×2)](中性)→ [candidate encoder](暖系)→(箭头旁标 "Q")[cross-attention (×1; K,V ← h)](暖系)→ [shared trunk](暖系)
- 候选框(上路产物)引箭头进 [trajectory c_k];h 框(下路产物)引**蓝色**箭头进 [cross-attention] 左侧
- 卡片底部斜体小字 "no cross-candidate attention"
【区域 3(右,约 x 760–1380):输出与选择器】
- 区域顶部一行式区头:"score:  ŷ(c_k) = m̂_g + S·tanh(r̂(c_k)/S)"
- [shared trunk] 右缘引三条箭头:
  1. 弧线向上 → 中性框 [group mean m̂_g],框下灰色斜体 "shared per group — excluded from selection"
  2. 直线 → 蓝系框 [residual r̂(c_k)]
  3. 淡灰弧线 → 虚线框(无底色):内列 4 行灰字 future (64×2) / progress / collision / offroad,虚线框下方灰色斜体 "training-only: deleted at inference, score bit-identical"
- [residual] 向下箭头 → 白底蓝边加粗框 [selector:  c* = argmax_k r̂(c_k)](蓝字)
- 右下角灰色脚注一行:"1,708,871 trainable params · 1.2 ms for all K=8 candidates · 3.5 MB peak inference memory"
【配色语义(务必遵守)】蓝 = 冻结/免费表征;暖 = 被训练组件;中性 = 数据/中转;虚线 = 仅训练期存在。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架构图的原生形状版:每个框/箭头/文字都是独立 PPT 对象,可直接拖拽编辑。轨迹扇形在此版中简化为占位框;精确视觉请以第 4 页脚本渲染版为准。
重绘 prompt:
请画一张学术论文架构图(SVG,viewBox="0 0 1380 520",白底,横向三段式)。
主题:冻结驾驶 VLA 的一次前向 → 两个产物(候选轨迹 + 末位 token h)→ 逐候选共享权重的 SafeWorld 选择头 → 分解输出与选择器。
【全局风格(每张图都遵守)】
- 白色背景;学术论文风;衬线字体(Times New Roman / serif)
- 圆角矩形(圆角约 6px),描边 1–1.5px;箭头用细线 + 小三角头
- 色板:
  · 墨色文字/主线条 #0b0b0b;次要文字 #52514e;淡灰 #b8b6ae;网格线 #e1e0d9
  · 蓝系 =「冻结 / 免费表征 / 我们的路径」(统计图里 = CI 排除 0 且方向有利):描边 #1c5cab,浅底 #cde2fb,面板底 #f7fafd
  · 暖系 =「被训练的组件」:描边 #b2543a,浅底 #f8e3da
  · 中性框:底 #f0efec 或 #fbfaf8,描边 #898781
  · 红 = 统计图里「CI 排除 0 且方向不利 / 退化」#d03b3b;灰 =「CI 跨零(无结论)」#898781
【输出要求】
- 输出一个内联 SVG(白底),viewBox 见各图说明;文字用 &lt;text&gt;,不要外部字体 / 外部图片 / 脚本
- 把每个逻辑区块包进 &lt;g id="..."&gt; 并配注释,方便我后续逐条让你改
- 先输出整图,再等我逐条提修改意见
【区域 1(左,约 x 0–330):冻结 VLA】
- 大蓝边容器(底 #f7fafd,边 #1c5cab),顶部蓝色加粗标题 "frozen driving VLA (10B)",下一行灰色斜体 "one forward pass — no finetuning"
- 容器内:一排 10 个小方块(底 #e7e5df)= token 条,下标 "prompt prefill · 3,086 tokens"
- token 条下方箭头 ↓ 指向矩阵图形:矩形(浅蓝底 #eef3fa)内画 8 条淡蓝横线表示行,中央标 "H ∈ ℝ^(3086×4096)" 与 "final-layer hidden states";矩阵最底一行高亮(底 #cde2fb 边 #1c5cab)
- 容器底部斜体小字 "captured once per decision group"
【区域 1 → 2 之间:一次前向的两个产物】
- 上路:从容器右上引箭头(旁标斜体 "sample")到白底框,框内画 5 条从同一起点扇形展开的轨迹曲线(起点一个小圆点),框上方标 "K=8 sampled candidates"
- 下路:从矩阵高亮行引蓝色箭头到蓝系框 [h = H[−1] ∈ ℝ^4096 / sha-verified, bit-exact](两行),框下方蓝色斜体小字 "computed anyway — free"
【区域 2(中,约 x 470–720):SafeWorld 头,堆叠卡片】
- 三张堆叠的圆角卡片(后两张向右下偏移、颜色更淡)表示 ×8 逐候选;最上卡片右上角灰色斜体 "×8"
- 卡片标题加粗 "SafeWorld head",副标斜体 "shared weights · run per candidate"
- 卡片内自上而下四个框,箭头竖直连接:
  [trajectory c_k (64×2)](中性)→ [candidate encoder](暖系)→(箭头旁标 "Q")[cross-attention (×1; K,V ← h)](暖系)→ [shared trunk](暖系)
- 候选框(上路产物)引箭头进 [trajectory c_k];h 框(下路产物)引**蓝色**箭头进 [cross-attention] 左侧
- 卡片底部斜体小字 "no cross-candidate attention"
【区域 3(右,约 x 760–1380):输出与选择器】
- 区域顶部一行式区头:"score:  ŷ(c_k) = m̂_g + S·tanh(r̂(c_k)/S)"
- [shared trunk] 右缘引三条箭头:
  1. 弧线向上 → 中性框 [group mean m̂_g],框下灰色斜体 "shared per group — excluded from selection"
  2. 直线 → 蓝系框 [residual r̂(c_k)]
  3. 淡灰弧线 → 虚线框(无底色):内列 4 行灰字 future (64×2) / progress / collision / offroad,虚线框下方灰色斜体 "training-only: deleted at inference, score bit-identical"
- [residual] 向下箭头 → 白底蓝边加粗框 [selector:  c* = argmax_k r̂(c_k)](蓝字)
- 右下角灰色脚注一行:"1,708,871 trainable params · 1.2 ms for all K=8 candidates · 3.5 MB peak inference memory"
【配色语义(务必遵守)】蓝 = 冻结/免费表征;暖 = 被训练组件;中性 = 数据/中转;虚线 = 仅训练期存在。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请画一张学术论文 forest plot(SVG,viewBox="0 0 656 510",白底)。这是数据图,所有数值如下,必须原样使用。
【全局风格(每张图都遵守)】
- 白色背景;学术论文风;衬线字体(Times New Roman / serif)
- 圆角矩形(圆角约 6px),描边 1–1.5px;箭头用细线 + 小三角头
- 色板:
  · 墨色文字/主线条 #0b0b0b;次要文字 #52514e;淡灰 #b8b6ae;网格线 #e1e0d9
  · 蓝系 =「冻结 / 免费表征 / 我们的路径」(统计图里 = CI 排除 0 且方向有利):描边 #1c5cab,浅底 #cde2fb,面板底 #f7fafd
  · 暖系 =「被训练的组件」:描边 #b2543a,浅底 #f8e3da
  · 中性框:底 #f0efec 或 #fbfaf8,描边 #898781
  · 红 = 统计图里「CI 排除 0 且方向不利 / 退化」#d03b3b;灰 =「CI 跨零(无结论)」#898781
【输出要求】
- 输出一个内联 SVG(白底),viewBox 见各图说明;文字用 &lt;text&gt;,不要外部字体 / 外部图片 / 脚本
- 把每个逻辑区块包进 &lt;g id="..."&gt; 并配注释,方便我后续逐条让你改
- 先输出整图,再等我逐条提修改意见
【布局】左右两个面板共享行;每行 = 一个配对对比。左面板 x 轴 "Δ regret (↓ better)",范围 −0.016…+0.016,刻度 −0.01/0/0.01;右面板 "Δ top-1 (↑ better)",范围 −0.145…+0.145,刻度 −0.1/0/0.1。两面板各画一条 x=0 竖线(墨色细线),浅灰竖网格。行标签放最左列(编号加粗 + 名称)。
图顶左侧灰色小字 "matched-visibility study (173 untouched scenes)"。
【编码规则】每行画 CI 横线(粗 2px、圆头)+ 中央圆点:CI 排除 0 → 实心;跨 0 → 空心白心。颜色:排除 0 且有利于前臂(regret 为负 / top-1 为正)= 蓝 #1c5cab;排除 0 且不利 = 红 #d03b3b;跨 0 = 灰 #898781。
【数据(mean [ci_low, ci_high])】
M3  LastToken − Null:
  regret −0.0069 [−0.0124, −0.0012] → 蓝实心;top-1 +0.0996 [+0.0668, +0.1330] → 蓝实心
M2  Full − Null:
  regret +0.0016 [−0.0035, +0.0074] → 灰空心;top-1 +0.0469 [+0.0218, +0.0726] → 蓝实心
M1  Full − LastToken:
  regret +0.0085 [+0.0030, +0.0143] → 红实心;top-1 −0.0527 [−0.0822, −0.0238] → 红实心
M5  LastToken − Geometry:
  regret −0.0051 [−0.0114, +0.0005] → 灰空心;top-1 −0.0334 [−0.0713, +0.0039] → 灰空心
M4  Full − Geometry:
  regret +0.0034 [−0.0023, +0.0092] → 灰空心;top-1 −0.0861 [−0.1220, −0.0501] → 红实心
【待定区】M 区块下留一行空隙,然后 4 行灰色行标(N1 Nominated − Geometry / N2 Nominated − Null / N3 Selector − Checkpoint obj. / N4 Checkpoint − Geometry),两个面板在这 4 行铺浅灰底带 #f4f3f0,右面板带中央写两行灰色斜体:"powered study (N=466)" / "preregistered — in flight"。
【图例】底部一行灰色小字:"● CI excludes 0 (blue = favors first-named arm; red = against)   ○ CI crosses 0"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请画一张学术论文消融效应图(SVG,viewBox="0 0 656 310",白底),视觉语法与 forest plot 完全一致(CI 横线 + 圆点)。
【全局风格(每张图都遵守)】
- 白色背景;学术论文风;衬线字体(Times New Roman / serif)
- 圆角矩形(圆角约 6px),描边 1–1.5px;箭头用细线 + 小三角头
- 色板:
  · 墨色文字/主线条 #0b0b0b;次要文字 #52514e;淡灰 #b8b6ae;网格线 #e1e0d9
  · 蓝系 =「冻结 / 免费表征 / 我们的路径」(统计图里 = CI 排除 0 且方向有利):描边 #1c5cab,浅底 #cde2fb,面板底 #f7fafd
  · 暖系 =「被训练的组件」:描边 #b2543a,浅底 #f8e3da
  · 中性框:底 #f0efec 或 #fbfaf8,描边 #898781
  · 红 = 统计图里「CI 排除 0 且方向不利 / 退化」#d03b3b;灰 =「CI 跨零(无结论)」#898781
【输出要求】
- 输出一个内联 SVG(白底),viewBox 见各图说明;文字用 &lt;text&gt;,不要外部字体 / 外部图片 / 脚本
- 把每个逻辑区块包进 &lt;g id="..."&gt; 并配注释,方便我后续逐条让你改
- 先输出整图,再等我逐条提修改意见
【布局】三行 × 两面板。左面板 "Δ regret (↓ better)",范围 −0.0075…+0.0075,刻度 −0.005/0/0.005;右面板 "Δ top-1 (↑ better)",范围 −0.075…+0.075,刻度 −0.05/0/0.05。行标签最左列。图顶灰色小字 "inference-time, training untouched (sequence-reading arm)"。
【编码】CI 排除 0(此处均为退化方向)= 红 #d03b3b 实心;跨 0 = 灰 #898781 空心。
【数据】
Wrong-scene swap:      regret +0.0007 [−0.0024, +0.0038] 灰空心;top-1 −0.0193 [−0.0379, −0.0019] 红实心
Zeroed representation: regret +0.0012 [−0.0020, +0.0050] 灰空心;top-1 −0.0238 [−0.0450, −0.0045] 红实心
Last-token-only input: regret −0.0008 [−0.0059, +0.0035] 灰空心;top-1 −0.0411 [−0.0617, −0.0218] 红实心
【图例】底部:"● CI excludes 0 (CI-supported degradation)   ○ CI crosses 0"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SafeWorld — WACV 2027 论文图集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Token Is Enough: Trajectory Selection from a Frozen Driving VLA's Prefill State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图源:paper/wacv2027/figs/make_fig*.py(数值从锁定 JSON 自动读取,FN1 定稿后重跑刷新)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每张图页的“备注/Notes”栏内附独立 prompt,可直接粘贴给网页版 Claude 重绘为 SVG 并对话式修改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页为架构图的原生形状版:所有框、箭头、文字均可在 PowerPoint 中直接编辑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1 — Teaser:两条在线评估路线</a:t>
            </a:r>
            <a:endParaRPr lang="en-US" sz="2400" dirty="0"/>
          </a:p>
        </p:txBody>
      </p:sp>
      <p:pic>
        <p:nvPicPr>
          <p:cNvPr id="3" name="Image 0" descr="/home/qiren/alpasafe/paper/wacv2027/figs/fig1_tea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805" y="1234440"/>
            <a:ext cx="7279341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备注栏含可粘贴给 Claude 的重绘 prompt;论文最终版由 make 脚本生成(矢量 PDF)。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2 — Same-prefill 采集与出处链</a:t>
            </a:r>
            <a:endParaRPr lang="en-US" sz="2400" dirty="0"/>
          </a:p>
        </p:txBody>
      </p:sp>
      <p:pic>
        <p:nvPicPr>
          <p:cNvPr id="3" name="Image 0" descr="/home/qiren/alpasafe/paper/wacv2027/figs/fig_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805" y="1234440"/>
            <a:ext cx="7279341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备注栏含可粘贴给 Claude 的重绘 prompt;论文最终版由 make 脚本生成(矢量 PDF)。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3 — 架构主图(figure*,跨双栏)</a:t>
            </a:r>
            <a:endParaRPr lang="en-US" sz="2400" dirty="0"/>
          </a:p>
        </p:txBody>
      </p:sp>
      <p:pic>
        <p:nvPicPr>
          <p:cNvPr id="3" name="Image 0" descr="/home/qiren/alpasafe/paper/wacv2027/figs/fig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701132"/>
            <a:ext cx="11064240" cy="4187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备注栏含可粘贴给 Claude 的重绘 prompt;论文最终版由 make 脚本生成(矢量 PDF)。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3 — 架构图(原生形状可编辑版)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3573" y="1489558"/>
            <a:ext cx="2649520" cy="3401568"/>
          </a:xfrm>
          <a:prstGeom prst="roundRect">
            <a:avLst>
              <a:gd name="adj" fmla="val 1726"/>
            </a:avLst>
          </a:prstGeom>
          <a:solidFill>
            <a:srgbClr val="F7FAFD"/>
          </a:solidFill>
          <a:ln w="15875">
            <a:solidFill>
              <a:srgbClr val="1C5CA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173" y="1552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C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 driving VLA (10B)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8173" y="174421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forward pass — no finetuning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50338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0192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90046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09900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29753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49607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69461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9315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09168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29022" y="2063572"/>
            <a:ext cx="169118" cy="212598"/>
          </a:xfrm>
          <a:prstGeom prst="roundRect">
            <a:avLst>
              <a:gd name="adj" fmla="val 27034"/>
            </a:avLst>
          </a:prstGeom>
          <a:solidFill>
            <a:srgbClr val="E7E5DF"/>
          </a:solidFill>
          <a:ln w="635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613" y="2296973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prefill · 3,086 tokens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1809" y="2935224"/>
            <a:ext cx="1973047" cy="1445666"/>
          </a:xfrm>
          <a:prstGeom prst="roundRect">
            <a:avLst>
              <a:gd name="adj" fmla="val 3163"/>
            </a:avLst>
          </a:prstGeom>
          <a:solidFill>
            <a:srgbClr val="EEF3FA"/>
          </a:solidFill>
          <a:ln w="1270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∈ ℝ^(3086×4096)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final-layer hidden states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1809" y="4219316"/>
            <a:ext cx="1973047" cy="161574"/>
          </a:xfrm>
          <a:prstGeom prst="roundRect">
            <a:avLst>
              <a:gd name="adj" fmla="val 28297"/>
            </a:avLst>
          </a:prstGeom>
          <a:solidFill>
            <a:srgbClr val="CDE2FB"/>
          </a:solidFill>
          <a:ln w="15875">
            <a:solidFill>
              <a:srgbClr val="1C5CA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38333" y="2527036"/>
            <a:ext cx="0" cy="357165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9613" y="4559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captured once per decision group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70447" y="1659636"/>
            <a:ext cx="1522065" cy="850392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trajectory fan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(K=8)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4200" y="1416817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K=8 sampled candidates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3208191" y="2127352"/>
            <a:ext cx="417158" cy="127559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931384" y="185051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70447" y="3891915"/>
            <a:ext cx="1522065" cy="446456"/>
          </a:xfrm>
          <a:prstGeom prst="roundRect">
            <a:avLst>
              <a:gd name="adj" fmla="val 10241"/>
            </a:avLst>
          </a:prstGeom>
          <a:solidFill>
            <a:srgbClr val="CDE2FB"/>
          </a:solidFill>
          <a:ln w="12700">
            <a:solidFill>
              <a:srgbClr val="1C5CA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 = H[−1] ∈ ℝ⁴⁰⁹⁶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sha-verified, bit-exact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 flipV="1">
            <a:off x="2869954" y="4189552"/>
            <a:ext cx="755395" cy="110551"/>
          </a:xfrm>
          <a:prstGeom prst="line">
            <a:avLst/>
          </a:prstGeom>
          <a:noFill/>
          <a:ln w="15875">
            <a:solidFill>
              <a:srgbClr val="1C5CA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334200" y="4380433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C5C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computed anyway — free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59181" y="1795699"/>
            <a:ext cx="2818638" cy="3231490"/>
          </a:xfrm>
          <a:prstGeom prst="roundRect">
            <a:avLst>
              <a:gd name="adj" fmla="val 1622"/>
            </a:avLst>
          </a:prstGeom>
          <a:solidFill>
            <a:srgbClr val="F3F2EF"/>
          </a:solidFill>
          <a:ln w="9525">
            <a:solidFill>
              <a:srgbClr val="B8B6A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7710" y="1727667"/>
            <a:ext cx="2818638" cy="3231490"/>
          </a:xfrm>
          <a:prstGeom prst="roundRect">
            <a:avLst>
              <a:gd name="adj" fmla="val 1622"/>
            </a:avLst>
          </a:prstGeom>
          <a:solidFill>
            <a:srgbClr val="F3F2EF"/>
          </a:solidFill>
          <a:ln w="9525">
            <a:solidFill>
              <a:srgbClr val="B8B6A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56239" y="1659636"/>
            <a:ext cx="2818638" cy="3231490"/>
          </a:xfrm>
          <a:prstGeom prst="roundRect">
            <a:avLst>
              <a:gd name="adj" fmla="val 1622"/>
            </a:avLst>
          </a:prstGeom>
          <a:solidFill>
            <a:srgbClr val="FBFAF8"/>
          </a:solidFill>
          <a:ln w="15875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76838" y="172295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SafeWorld head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85398" y="1914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weights · run per candidate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89510" y="1595399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19967" y="2276170"/>
            <a:ext cx="1691183" cy="403936"/>
          </a:xfrm>
          <a:prstGeom prst="roundRect">
            <a:avLst>
              <a:gd name="adj" fmla="val 11319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trajectory cₖ (64×2)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19967" y="2913964"/>
            <a:ext cx="1691183" cy="403936"/>
          </a:xfrm>
          <a:prstGeom prst="roundRect">
            <a:avLst>
              <a:gd name="adj" fmla="val 11319"/>
            </a:avLst>
          </a:prstGeom>
          <a:solidFill>
            <a:srgbClr val="F8E3DA"/>
          </a:solidFill>
          <a:ln w="12700">
            <a:solidFill>
              <a:srgbClr val="B254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encoder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19967" y="3551758"/>
            <a:ext cx="1691183" cy="467716"/>
          </a:xfrm>
          <a:prstGeom prst="roundRect">
            <a:avLst>
              <a:gd name="adj" fmla="val 9775"/>
            </a:avLst>
          </a:prstGeom>
          <a:solidFill>
            <a:srgbClr val="F8E3DA"/>
          </a:solidFill>
          <a:ln w="12700">
            <a:solidFill>
              <a:srgbClr val="B254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cross-attention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(×1; K,V ← h)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19967" y="4253332"/>
            <a:ext cx="1691183" cy="403936"/>
          </a:xfrm>
          <a:prstGeom prst="roundRect">
            <a:avLst>
              <a:gd name="adj" fmla="val 11319"/>
            </a:avLst>
          </a:prstGeom>
          <a:solidFill>
            <a:srgbClr val="F8E3DA"/>
          </a:solidFill>
          <a:ln w="12700">
            <a:solidFill>
              <a:srgbClr val="B254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trunk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26335" y="2212391"/>
            <a:ext cx="1048533" cy="233858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65558" y="2697114"/>
            <a:ext cx="0" cy="195590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165558" y="3334908"/>
            <a:ext cx="0" cy="195590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162449" y="3304687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flipV="1">
            <a:off x="5237610" y="3849395"/>
            <a:ext cx="1037259" cy="267873"/>
          </a:xfrm>
          <a:prstGeom prst="line">
            <a:avLst/>
          </a:prstGeom>
          <a:noFill/>
          <a:ln w="15875">
            <a:solidFill>
              <a:srgbClr val="1C5CA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165558" y="4036482"/>
            <a:ext cx="0" cy="195590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976838" y="468657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cross-candidate attention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30379" y="1552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score:  ŷ(cₖ) = m̂_g + S·tanh(r̂(cₖ)/S)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51351" y="2339950"/>
            <a:ext cx="1240201" cy="425196"/>
          </a:xfrm>
          <a:prstGeom prst="roundRect">
            <a:avLst>
              <a:gd name="adj" fmla="val 10753"/>
            </a:avLst>
          </a:prstGeom>
          <a:solidFill>
            <a:srgbClr val="F0EFEC"/>
          </a:solidFill>
          <a:ln w="12700">
            <a:solidFill>
              <a:srgbClr val="89878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mean m̂_g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865611" y="27859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per group —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excluded from selection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251351" y="3317900"/>
            <a:ext cx="1240201" cy="425196"/>
          </a:xfrm>
          <a:prstGeom prst="roundRect">
            <a:avLst>
              <a:gd name="adj" fmla="val 10753"/>
            </a:avLst>
          </a:prstGeom>
          <a:solidFill>
            <a:srgbClr val="CDE2FB"/>
          </a:solidFill>
          <a:ln w="12700">
            <a:solidFill>
              <a:srgbClr val="1C5CA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0B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 r̂(cₖ)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 flipV="1">
            <a:off x="8056248" y="3573018"/>
            <a:ext cx="1150004" cy="829132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8056248" y="2595067"/>
            <a:ext cx="1150004" cy="1764563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0773415" y="2042312"/>
            <a:ext cx="924513" cy="1105510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2700">
            <a:solidFill>
              <a:srgbClr val="89878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(64×2)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collision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offroad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229832" y="325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training-only: deleted at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inference, score bit-identical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 flipV="1">
            <a:off x="8056248" y="2850185"/>
            <a:ext cx="2672069" cy="1466926"/>
          </a:xfrm>
          <a:prstGeom prst="line">
            <a:avLst/>
          </a:prstGeom>
          <a:noFill/>
          <a:ln w="15875">
            <a:solidFill>
              <a:srgbClr val="B8B6AE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9082232" y="4423410"/>
            <a:ext cx="2593147" cy="382676"/>
          </a:xfrm>
          <a:prstGeom prst="roundRect">
            <a:avLst>
              <a:gd name="adj" fmla="val 11947"/>
            </a:avLst>
          </a:prstGeom>
          <a:solidFill>
            <a:srgbClr val="FFFFFF"/>
          </a:solidFill>
          <a:ln w="19050">
            <a:solidFill>
              <a:srgbClr val="1C5CA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5C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selector:  c* = argmaxₖ r̂(cₖ)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871451" y="3760104"/>
            <a:ext cx="0" cy="642046"/>
          </a:xfrm>
          <a:prstGeom prst="line">
            <a:avLst/>
          </a:prstGeom>
          <a:noFill/>
          <a:ln w="15875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512064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1,708,871 trainable params · 1.2 ms for all K=8 candidates · 3.5 MB peak inference memory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4 — Forest plot(主对比)</a:t>
            </a:r>
            <a:endParaRPr lang="en-US" sz="2400" dirty="0"/>
          </a:p>
        </p:txBody>
      </p:sp>
      <p:pic>
        <p:nvPicPr>
          <p:cNvPr id="3" name="Image 0" descr="/home/qiren/alpasafe/paper/wacv2027/figs/fig3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568" y="1234440"/>
            <a:ext cx="7105816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备注栏含可粘贴给 Claude 的重绘 prompt;论文最终版由 make 脚本生成(矢量 PDF)。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Fig. 5 — 因果消融</a:t>
            </a:r>
            <a:endParaRPr lang="en-US" sz="2400" dirty="0"/>
          </a:p>
        </p:txBody>
      </p:sp>
      <p:pic>
        <p:nvPicPr>
          <p:cNvPr id="3" name="Image 0" descr="/home/qiren/alpasafe/paper/wacv2027/figs/fig4_abl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181" y="1234440"/>
            <a:ext cx="1086059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备注栏含可粘贴给 Claude 的重绘 prompt;论文最终版由 make 脚本生成(矢量 PDF)。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2026-08-09T03:48:13Z</dcterms:created>
  <dcterms:modified xsi:type="dcterms:W3CDTF">2026-08-09T03:48:13Z</dcterms:modified>
</cp:coreProperties>
</file>